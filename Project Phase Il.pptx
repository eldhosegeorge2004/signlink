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notesMasterIdLst>
    <p:notesMasterId r:id="rId28"/>
  </p:notesMasterIdLst>
  <p:sldIdLst>
    <p:sldId id="256" r:id="rId2"/>
    <p:sldId id="257" r:id="rId3"/>
    <p:sldId id="267" r:id="rId4"/>
    <p:sldId id="268" r:id="rId5"/>
    <p:sldId id="278" r:id="rId6"/>
    <p:sldId id="279" r:id="rId7"/>
    <p:sldId id="258" r:id="rId8"/>
    <p:sldId id="259" r:id="rId9"/>
    <p:sldId id="266" r:id="rId10"/>
    <p:sldId id="260" r:id="rId11"/>
    <p:sldId id="269" r:id="rId12"/>
    <p:sldId id="270" r:id="rId13"/>
    <p:sldId id="264" r:id="rId14"/>
    <p:sldId id="292" r:id="rId15"/>
    <p:sldId id="272" r:id="rId16"/>
    <p:sldId id="296" r:id="rId17"/>
    <p:sldId id="295" r:id="rId18"/>
    <p:sldId id="294" r:id="rId19"/>
    <p:sldId id="293" r:id="rId20"/>
    <p:sldId id="265" r:id="rId21"/>
    <p:sldId id="271" r:id="rId22"/>
    <p:sldId id="297" r:id="rId23"/>
    <p:sldId id="298" r:id="rId24"/>
    <p:sldId id="290" r:id="rId25"/>
    <p:sldId id="291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3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3904"/>
    </p:cViewPr>
  </p:sorterViewPr>
  <p:notesViewPr>
    <p:cSldViewPr snapToGrid="0" snapToObjects="1">
      <p:cViewPr varScale="1">
        <p:scale>
          <a:sx n="55" d="100"/>
          <a:sy n="55" d="100"/>
        </p:scale>
        <p:origin x="2604" y="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D922F-F3E0-46F1-921B-6C7FACAF7EB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84A24-7CA9-4DF4-9CF9-6BFED77C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50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84A24-7CA9-4DF4-9CF9-6BFED77C913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472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23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8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89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9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705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84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0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6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8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81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842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88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35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895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71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318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30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1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296333"/>
            <a:ext cx="6798734" cy="1303867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II – Final Review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698" y="1731838"/>
            <a:ext cx="8229600" cy="5158819"/>
          </a:xfrm>
        </p:spPr>
        <p:txBody>
          <a:bodyPr>
            <a:normAutofit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SignLink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Shalin Philip,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Saurav,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Eldhose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George,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Aanjo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Paul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Dr. Peter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Prof., CG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7" y="2465398"/>
            <a:ext cx="6798734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lack of a real-time, accessible communication system creates a significant barrier between hearing/speech-impaired individuals and normal-speaking people, limiting natural and inclusive interaction.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3" y="1883374"/>
            <a:ext cx="8229600" cy="67166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3FCB88-0715-442D-A72E-AFE70E1F0D38}"/>
              </a:ext>
            </a:extLst>
          </p:cNvPr>
          <p:cNvSpPr txBox="1">
            <a:spLocks/>
          </p:cNvSpPr>
          <p:nvPr/>
        </p:nvSpPr>
        <p:spPr>
          <a:xfrm>
            <a:off x="1176866" y="2461506"/>
            <a:ext cx="6798734" cy="4817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bridge the communication gap between hearing/speech-impaired and normal-speaking individuals in real time.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reliance on interpreters and enable independent communication.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promote inclusive and accessible communication using AI.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813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D049E7-3AC1-4DBD-9960-7DCA94F4CAE1}"/>
              </a:ext>
            </a:extLst>
          </p:cNvPr>
          <p:cNvSpPr txBox="1">
            <a:spLocks/>
          </p:cNvSpPr>
          <p:nvPr/>
        </p:nvSpPr>
        <p:spPr>
          <a:xfrm>
            <a:off x="457200" y="1681424"/>
            <a:ext cx="8229600" cy="3899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b="1" u="sn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5C2E15-9F12-4E2D-9BEE-D9F6EA60DADE}"/>
              </a:ext>
            </a:extLst>
          </p:cNvPr>
          <p:cNvSpPr txBox="1">
            <a:spLocks/>
          </p:cNvSpPr>
          <p:nvPr/>
        </p:nvSpPr>
        <p:spPr>
          <a:xfrm>
            <a:off x="457200" y="1620625"/>
            <a:ext cx="8229600" cy="4259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IN" b="1" u="sng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9F1596-639D-4209-A714-834AB2C9A05E}"/>
              </a:ext>
            </a:extLst>
          </p:cNvPr>
          <p:cNvSpPr txBox="1">
            <a:spLocks/>
          </p:cNvSpPr>
          <p:nvPr/>
        </p:nvSpPr>
        <p:spPr>
          <a:xfrm>
            <a:off x="1176866" y="2443534"/>
            <a:ext cx="6798734" cy="4817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real-time communication between hearing/speech-impaired and normal-speaking users.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speech into text or sign language for better understanding by impaired users.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translate sign language into text and voice for effective two-way interaction.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2FDB9CD-B0E3-4878-A55F-5F6654377DEE}"/>
              </a:ext>
            </a:extLst>
          </p:cNvPr>
          <p:cNvSpPr txBox="1">
            <a:spLocks/>
          </p:cNvSpPr>
          <p:nvPr/>
        </p:nvSpPr>
        <p:spPr>
          <a:xfrm>
            <a:off x="1176866" y="1901495"/>
            <a:ext cx="8229600" cy="671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0" indent="0">
              <a:buFont typeface="Arial"/>
              <a:buNone/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009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20F9-81C3-DDD3-BF6F-86C09B11A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0D73D8-B3A0-4B5D-30C9-EA421D791B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3690" y="2425210"/>
            <a:ext cx="691191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enabling communication between deaf-mute individuals and normal-speaking people.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communication barriers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daily life, workplaces, hospitals, and public services.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modern technologies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AI, computer vision, and speech recognition for real-time translation.</a:t>
            </a:r>
          </a:p>
        </p:txBody>
      </p:sp>
    </p:spTree>
    <p:extLst>
      <p:ext uri="{BB962C8B-B14F-4D97-AF65-F5344CB8AC3E}">
        <p14:creationId xmlns:p14="http://schemas.microsoft.com/office/powerpoint/2010/main" val="147162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341D9-96E3-C611-98EB-C1C1BE55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AF4B-33CD-C94E-1FD5-FB81DD85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FF81AF-EF1C-18FE-EC14-0FF879D597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6866" y="2586272"/>
            <a:ext cx="679873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relevance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sectors such as healthcare, education, customer service, and accessibility technology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Beneficiaries include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deaf and speech-impaired individuals, families, teachers, doctors, and service providers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impact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improved social inclusion, independence for disabled individuals, and better communication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902365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263403"/>
            <a:ext cx="6798734" cy="130386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6412391"/>
              </p:ext>
            </p:extLst>
          </p:nvPr>
        </p:nvGraphicFramePr>
        <p:xfrm>
          <a:off x="568734" y="1212978"/>
          <a:ext cx="801499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944">
                  <a:extLst>
                    <a:ext uri="{9D8B030D-6E8A-4147-A177-3AD203B41FA5}">
                      <a16:colId xmlns:a16="http://schemas.microsoft.com/office/drawing/2014/main" val="2250858048"/>
                    </a:ext>
                  </a:extLst>
                </a:gridCol>
                <a:gridCol w="3183117">
                  <a:extLst>
                    <a:ext uri="{9D8B030D-6E8A-4147-A177-3AD203B41FA5}">
                      <a16:colId xmlns:a16="http://schemas.microsoft.com/office/drawing/2014/main" val="2512530906"/>
                    </a:ext>
                  </a:extLst>
                </a:gridCol>
                <a:gridCol w="2859937">
                  <a:extLst>
                    <a:ext uri="{9D8B030D-6E8A-4147-A177-3AD203B41FA5}">
                      <a16:colId xmlns:a16="http://schemas.microsoft.com/office/drawing/2014/main" val="3293463646"/>
                    </a:ext>
                  </a:extLst>
                </a:gridCol>
              </a:tblGrid>
              <a:tr h="345554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Papers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Table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339331"/>
                  </a:ext>
                </a:extLst>
              </a:tr>
              <a:tr h="1382218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Sánchez-Ruiz et al. (2023)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"Word Level SLR via Handcrafted Features"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Scope: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Only recognizes individual words; lacks grammar and sentence-level understanding for natural conversation.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YOLOv5,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MediaPipe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94.33% accuracy; lightweight enough for mobile/real-time 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200"/>
                  </a:ext>
                </a:extLst>
              </a:tr>
              <a:tr h="164138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Wen et al. (2024)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"SAW: Semantic-Aware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WebRTC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Transmission"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 computational demand due to diffusion models; difficult to synchronize multi-layer streaming.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Diffusion-based scalable video coding,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WebRTC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integration. 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Efficient bandwidth use; very low latency (10-50ms) for calls.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279496"/>
                  </a:ext>
                </a:extLst>
              </a:tr>
              <a:tr h="1641384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W. Zhou et al. (2024)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"Scaling up Multimodal Pre-training for SLU"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 Bias: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 dataset is heavily imbalanced toward British Sign Language (BSL), making it less effective for other regions.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SL-1.5M dataset, masked pose modeling, sign-text contrastive learning. 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Highly generalizable across different SL tasks.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8827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939" y="263403"/>
            <a:ext cx="6798734" cy="1303867"/>
          </a:xfrm>
        </p:spPr>
        <p:txBody>
          <a:bodyPr/>
          <a:lstStyle/>
          <a:p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102" y="1546754"/>
            <a:ext cx="7371184" cy="527303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0" indent="0" algn="just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gesture tracking.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Low-Latency Stream: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WebRTC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buffer for lag-free calls.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Sign-to-Voice: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LSTM models convert dynamic signs to text, which is voiced via TTS for normal users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Voice-to-Sign/Text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live captions or sign-pose animations for impaired users.</a:t>
            </a: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On-the-go camera translation for face-to-face sign recognition.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485259"/>
            <a:ext cx="6798734" cy="130386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432" y="1450383"/>
            <a:ext cx="8229600" cy="4806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42" y="1963118"/>
            <a:ext cx="7385180" cy="41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16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03953"/>
            <a:ext cx="6798734" cy="130386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529495"/>
            <a:ext cx="6798735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real-time, two-way translation between speech and sign language within a single platform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AI-powered speech recognition and gesture detection for accurate communication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natural and inclusive interaction through live video-based communication.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DEE871-63F6-4AAF-9366-6B80FBAF5609}"/>
              </a:ext>
            </a:extLst>
          </p:cNvPr>
          <p:cNvSpPr txBox="1">
            <a:spLocks/>
          </p:cNvSpPr>
          <p:nvPr/>
        </p:nvSpPr>
        <p:spPr>
          <a:xfrm>
            <a:off x="1315617" y="1820467"/>
            <a:ext cx="8229600" cy="671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543928"/>
            <a:ext cx="6798734" cy="130386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633" y="2332037"/>
            <a:ext cx="6798734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real-time video communication with integrated speech and sign language translation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AI-based modules for speech-to-text, text-to-speech, and sign language gesture recognition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of a user-friendly and accessible interface supporting live translation in both virtual (video calls) and real-world scenarios.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59D26E-D806-4875-BC59-95EA235EC525}"/>
              </a:ext>
            </a:extLst>
          </p:cNvPr>
          <p:cNvSpPr txBox="1">
            <a:spLocks/>
          </p:cNvSpPr>
          <p:nvPr/>
        </p:nvSpPr>
        <p:spPr>
          <a:xfrm>
            <a:off x="1172633" y="1736779"/>
            <a:ext cx="8229600" cy="671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Scope</a:t>
            </a:r>
          </a:p>
        </p:txBody>
      </p:sp>
    </p:spTree>
    <p:extLst>
      <p:ext uri="{BB962C8B-B14F-4D97-AF65-F5344CB8AC3E}">
        <p14:creationId xmlns:p14="http://schemas.microsoft.com/office/powerpoint/2010/main" val="3572551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608984"/>
            <a:ext cx="6798734" cy="130386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020" y="2506555"/>
            <a:ext cx="690258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real-time, two-way communication between hearing/speech-impaired and normal users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dependence on human interpreters, promoting independent interaction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and inclusivity using AI-powered translation and video communication.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ADAAAF-3182-4FBB-A352-44A9E3C7B17A}"/>
              </a:ext>
            </a:extLst>
          </p:cNvPr>
          <p:cNvSpPr txBox="1">
            <a:spLocks/>
          </p:cNvSpPr>
          <p:nvPr/>
        </p:nvSpPr>
        <p:spPr>
          <a:xfrm>
            <a:off x="1073020" y="1732258"/>
            <a:ext cx="8229600" cy="671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81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579435"/>
            <a:ext cx="6798734" cy="130386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1985181"/>
            <a:ext cx="6903445" cy="485354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sz="5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challenges</a:t>
            </a:r>
            <a:r>
              <a:rPr lang="en-US" sz="5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5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 </a:t>
            </a:r>
            <a:r>
              <a:rPr lang="en-IN" sz="51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endParaRPr lang="en-IN" sz="5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WebRTC Latency</a:t>
            </a:r>
          </a:p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 during peer-to-peer communication</a:t>
            </a:r>
            <a:b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 server fallback</a:t>
            </a:r>
          </a:p>
          <a:p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ICE candidate handling</a:t>
            </a:r>
          </a:p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ML Performance (Browser)</a:t>
            </a:r>
          </a:p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computation cost</a:t>
            </a:r>
            <a:b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WebGL acceleration</a:t>
            </a:r>
          </a:p>
          <a:p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throttling during inference</a:t>
            </a: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F24ADD-C3C2-3E2F-6238-1558208ACB0E}"/>
              </a:ext>
            </a:extLst>
          </p:cNvPr>
          <p:cNvSpPr txBox="1">
            <a:spLocks/>
          </p:cNvSpPr>
          <p:nvPr/>
        </p:nvSpPr>
        <p:spPr>
          <a:xfrm>
            <a:off x="914400" y="1260983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IN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Model Accuracy</a:t>
            </a:r>
          </a:p>
          <a:p>
            <a:pPr marL="0" indent="0">
              <a:buFont typeface="Arial"/>
              <a:buNone/>
            </a:pPr>
            <a:r>
              <a:rPr lang="en-IN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Gesture misclassification</a:t>
            </a:r>
            <a:br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IN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</a:p>
          <a:p>
            <a:r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thresholds before prediction output</a:t>
            </a:r>
          </a:p>
          <a:p>
            <a:pPr marL="0" indent="0">
              <a:buFont typeface="Arial"/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3738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A83C4-FB89-48A4-7C85-A7EF4783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764138"/>
            <a:ext cx="6798734" cy="130386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69783-F1A3-A17C-EE3E-060764BB2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135" y="1551206"/>
            <a:ext cx="8229600" cy="495724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</a:t>
            </a:r>
          </a:p>
          <a:p>
            <a:pPr marL="0" indent="0">
              <a:buNone/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A7C062-0AB2-6439-F4CB-9BD72C3B2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818364"/>
              </p:ext>
            </p:extLst>
          </p:nvPr>
        </p:nvGraphicFramePr>
        <p:xfrm>
          <a:off x="555171" y="2068007"/>
          <a:ext cx="8033658" cy="428290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677886">
                  <a:extLst>
                    <a:ext uri="{9D8B030D-6E8A-4147-A177-3AD203B41FA5}">
                      <a16:colId xmlns:a16="http://schemas.microsoft.com/office/drawing/2014/main" val="3970990616"/>
                    </a:ext>
                  </a:extLst>
                </a:gridCol>
                <a:gridCol w="2677886">
                  <a:extLst>
                    <a:ext uri="{9D8B030D-6E8A-4147-A177-3AD203B41FA5}">
                      <a16:colId xmlns:a16="http://schemas.microsoft.com/office/drawing/2014/main" val="1014333914"/>
                    </a:ext>
                  </a:extLst>
                </a:gridCol>
                <a:gridCol w="2677886">
                  <a:extLst>
                    <a:ext uri="{9D8B030D-6E8A-4147-A177-3AD203B41FA5}">
                      <a16:colId xmlns:a16="http://schemas.microsoft.com/office/drawing/2014/main" val="3599614951"/>
                    </a:ext>
                  </a:extLst>
                </a:gridCol>
              </a:tblGrid>
              <a:tr h="318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Milestone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Status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657966"/>
                  </a:ext>
                </a:extLst>
              </a:tr>
              <a:tr h="55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Architecture Finalized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121568"/>
                  </a:ext>
                </a:extLst>
              </a:tr>
              <a:tr h="442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WebRTC</a:t>
                      </a:r>
                      <a:r>
                        <a:rPr lang="en-IN" dirty="0"/>
                        <a:t> </a:t>
                      </a:r>
                      <a:r>
                        <a:rPr lang="en-IN" dirty="0" smtClean="0"/>
                        <a:t>Connectivity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017582"/>
                  </a:ext>
                </a:extLst>
              </a:tr>
              <a:tr h="55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Video </a:t>
                      </a:r>
                      <a:r>
                        <a:rPr lang="en-IN" dirty="0" smtClean="0"/>
                        <a:t>Call fully implemented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682958"/>
                  </a:ext>
                </a:extLst>
              </a:tr>
              <a:tr h="318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ML Training Pipeline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372076"/>
                  </a:ext>
                </a:extLst>
              </a:tr>
              <a:tr h="318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Supabase</a:t>
                      </a:r>
                      <a:r>
                        <a:rPr lang="en-IN" dirty="0"/>
                        <a:t> Integration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940648"/>
                  </a:ext>
                </a:extLst>
              </a:tr>
              <a:tr h="31897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M6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+mj-lt"/>
                          <a:cs typeface="Times New Roman" panose="02020603050405020304" pitchFamily="18" charset="0"/>
                        </a:rPr>
                        <a:t>Live Translation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338843"/>
                  </a:ext>
                </a:extLst>
              </a:tr>
              <a:tr h="31897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M7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AI Training Mode</a:t>
                      </a:r>
                      <a:endParaRPr lang="en-IN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175283"/>
                  </a:ext>
                </a:extLst>
              </a:tr>
              <a:tr h="318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Sign Language </a:t>
                      </a:r>
                      <a:r>
                        <a:rPr lang="en-IN" dirty="0" smtClean="0"/>
                        <a:t>Training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748280"/>
                  </a:ext>
                </a:extLst>
              </a:tr>
              <a:tr h="318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Final </a:t>
                      </a:r>
                      <a:r>
                        <a:rPr lang="en-IN" dirty="0" smtClean="0"/>
                        <a:t>Deployment &amp;</a:t>
                      </a:r>
                      <a:r>
                        <a:rPr lang="en-IN" baseline="0" dirty="0" smtClean="0"/>
                        <a:t> APK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329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40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30" y="1510005"/>
            <a:ext cx="1990918" cy="44242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838" y="1510005"/>
            <a:ext cx="1990919" cy="44242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118" y="1510004"/>
            <a:ext cx="1990919" cy="44242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E818860-665C-25BB-B3EA-D8D8AE8A0157}"/>
              </a:ext>
            </a:extLst>
          </p:cNvPr>
          <p:cNvSpPr txBox="1">
            <a:spLocks/>
          </p:cNvSpPr>
          <p:nvPr/>
        </p:nvSpPr>
        <p:spPr>
          <a:xfrm>
            <a:off x="457200" y="467257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201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18860-665C-25BB-B3EA-D8D8AE8A0157}"/>
              </a:ext>
            </a:extLst>
          </p:cNvPr>
          <p:cNvSpPr txBox="1">
            <a:spLocks/>
          </p:cNvSpPr>
          <p:nvPr/>
        </p:nvSpPr>
        <p:spPr>
          <a:xfrm>
            <a:off x="457200" y="467257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775" y="1507620"/>
            <a:ext cx="2040605" cy="45346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823" y="1507620"/>
            <a:ext cx="2040605" cy="453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20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308E8-7983-E106-880C-76C13D1367D4}"/>
              </a:ext>
            </a:extLst>
          </p:cNvPr>
          <p:cNvSpPr txBox="1">
            <a:spLocks/>
          </p:cNvSpPr>
          <p:nvPr/>
        </p:nvSpPr>
        <p:spPr>
          <a:xfrm>
            <a:off x="457200" y="44699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847" y="1427582"/>
            <a:ext cx="2082592" cy="46279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71" y="1427582"/>
            <a:ext cx="2082592" cy="462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2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17720-0158-A67F-ED0C-4BD26E0550AB}"/>
              </a:ext>
            </a:extLst>
          </p:cNvPr>
          <p:cNvSpPr txBox="1">
            <a:spLocks/>
          </p:cNvSpPr>
          <p:nvPr/>
        </p:nvSpPr>
        <p:spPr>
          <a:xfrm>
            <a:off x="457200" y="467257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507" y="1610257"/>
            <a:ext cx="2012985" cy="44733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819" y="1610257"/>
            <a:ext cx="2012986" cy="44733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194" y="1610256"/>
            <a:ext cx="2012986" cy="447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60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619185"/>
            <a:ext cx="6798734" cy="130386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3BA75BA-813C-6F46-B250-B35E21D3C3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6867" y="2360937"/>
            <a:ext cx="679873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SIGN-LINK uses AI to help sign language users communicate with others.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translates sign language in real time for easier communication.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detects hand gestures accurately.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improves recognition accuracy.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fast communication with low delay.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in data and models can make the system better.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914687-71CA-457E-BA50-E9B6E046DEF0}"/>
              </a:ext>
            </a:extLst>
          </p:cNvPr>
          <p:cNvSpPr txBox="1">
            <a:spLocks/>
          </p:cNvSpPr>
          <p:nvPr/>
        </p:nvSpPr>
        <p:spPr>
          <a:xfrm>
            <a:off x="1176867" y="1806165"/>
            <a:ext cx="8229600" cy="671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512144"/>
            <a:ext cx="8229600" cy="1143000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601" y="2459129"/>
            <a:ext cx="8229600" cy="2477469"/>
          </a:xfrm>
        </p:spPr>
        <p:txBody>
          <a:bodyPr>
            <a:normAutofit/>
          </a:bodyPr>
          <a:lstStyle/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ISL datasets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 deep learning models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sign language avatars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sign language support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523B1B-05F7-49FC-BF93-5058C880E289}"/>
              </a:ext>
            </a:extLst>
          </p:cNvPr>
          <p:cNvSpPr txBox="1">
            <a:spLocks/>
          </p:cNvSpPr>
          <p:nvPr/>
        </p:nvSpPr>
        <p:spPr>
          <a:xfrm>
            <a:off x="1177601" y="1821638"/>
            <a:ext cx="8229600" cy="671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591C2-1D48-A67B-2ADD-CF10D61838CE}"/>
              </a:ext>
            </a:extLst>
          </p:cNvPr>
          <p:cNvSpPr txBox="1"/>
          <p:nvPr/>
        </p:nvSpPr>
        <p:spPr>
          <a:xfrm>
            <a:off x="1090816" y="407435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E5564-8E20-7B47-BDD1-0BEF2C21AB1B}"/>
              </a:ext>
            </a:extLst>
          </p:cNvPr>
          <p:cNvSpPr txBox="1"/>
          <p:nvPr/>
        </p:nvSpPr>
        <p:spPr>
          <a:xfrm>
            <a:off x="1177601" y="4650416"/>
            <a:ext cx="84201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 training datasets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affected by lighting conditions</a:t>
            </a:r>
          </a:p>
          <a:p>
            <a:pPr marL="514350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recognizing complex gestures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all regional sign languages</a:t>
            </a:r>
          </a:p>
        </p:txBody>
      </p:sp>
    </p:spTree>
    <p:extLst>
      <p:ext uri="{BB962C8B-B14F-4D97-AF65-F5344CB8AC3E}">
        <p14:creationId xmlns:p14="http://schemas.microsoft.com/office/powerpoint/2010/main" val="3999956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914400" y="1741100"/>
            <a:ext cx="8229600" cy="470852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IN" sz="2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Roles and Work Breakdown</a:t>
            </a:r>
            <a:endParaRPr lang="en-IN" sz="22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Shalin</a:t>
            </a: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Philip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 optimization</a:t>
            </a:r>
          </a:p>
          <a:p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Live Translation page</a:t>
            </a:r>
          </a:p>
          <a:p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training</a:t>
            </a:r>
          </a:p>
          <a:p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Gesture Training</a:t>
            </a:r>
          </a:p>
          <a:p>
            <a:pPr marL="0" indent="0">
              <a:buFont typeface="Arial"/>
              <a:buNone/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M.S Saurav</a:t>
            </a:r>
          </a:p>
          <a:p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Training page</a:t>
            </a:r>
          </a:p>
          <a:p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 Mobile APK</a:t>
            </a:r>
          </a:p>
          <a:p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 Native STT and TTS</a:t>
            </a:r>
          </a:p>
          <a:p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Gesture Training</a:t>
            </a:r>
          </a:p>
          <a:p>
            <a:pPr marL="0" indent="0">
              <a:buFont typeface="Arial"/>
              <a:buNone/>
            </a:pP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76866" y="806065"/>
            <a:ext cx="6798734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 Contribution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640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6474EB-748E-7ACD-6B1D-DCEAA25A1476}"/>
              </a:ext>
            </a:extLst>
          </p:cNvPr>
          <p:cNvSpPr txBox="1">
            <a:spLocks/>
          </p:cNvSpPr>
          <p:nvPr/>
        </p:nvSpPr>
        <p:spPr>
          <a:xfrm>
            <a:off x="1091682" y="195912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Eldhose</a:t>
            </a: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George</a:t>
            </a:r>
          </a:p>
          <a:p>
            <a:r>
              <a:rPr lang="en-IN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WebRTC</a:t>
            </a:r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</a:t>
            </a:r>
          </a:p>
          <a:p>
            <a:r>
              <a:rPr lang="en-IN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server (</a:t>
            </a:r>
            <a:r>
              <a:rPr lang="en-IN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channel)</a:t>
            </a:r>
          </a:p>
          <a:p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TURN/STUN server</a:t>
            </a:r>
          </a:p>
          <a:p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 </a:t>
            </a:r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Aanjo</a:t>
            </a: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Reji</a:t>
            </a: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Paul</a:t>
            </a:r>
          </a:p>
          <a:p>
            <a:r>
              <a:rPr lang="en-IN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</a:t>
            </a:r>
          </a:p>
          <a:p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Homepage UI</a:t>
            </a:r>
          </a:p>
          <a:p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Overall testing </a:t>
            </a:r>
          </a:p>
          <a:p>
            <a:endParaRPr lang="en-IN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176866" y="806065"/>
            <a:ext cx="6798734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 Contribution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417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22CE-ABA2-619A-1DDE-2867B5CC11A8}"/>
              </a:ext>
            </a:extLst>
          </p:cNvPr>
          <p:cNvSpPr txBox="1">
            <a:spLocks/>
          </p:cNvSpPr>
          <p:nvPr/>
        </p:nvSpPr>
        <p:spPr>
          <a:xfrm>
            <a:off x="1176867" y="459346"/>
            <a:ext cx="6798734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and IPR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36A6A-73F0-91ED-8F42-A3EA39B44B01}"/>
              </a:ext>
            </a:extLst>
          </p:cNvPr>
          <p:cNvSpPr txBox="1">
            <a:spLocks/>
          </p:cNvSpPr>
          <p:nvPr/>
        </p:nvSpPr>
        <p:spPr>
          <a:xfrm>
            <a:off x="1082351" y="1478180"/>
            <a:ext cx="6893250" cy="2585301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en-I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paper titled </a:t>
            </a:r>
            <a:r>
              <a:rPr lang="en-I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Sign Language Recognition and Bidirectional Communication System (SIGNLINK)” </a:t>
            </a:r>
            <a:r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National Conference On Emerging Computing &amp; Smart Technologies 2026 at VJCET, Vazhakulam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00" y="2835162"/>
            <a:ext cx="3644034" cy="27945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234" y="2860717"/>
            <a:ext cx="3603601" cy="275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60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22CE-ABA2-619A-1DDE-2867B5CC11A8}"/>
              </a:ext>
            </a:extLst>
          </p:cNvPr>
          <p:cNvSpPr txBox="1">
            <a:spLocks/>
          </p:cNvSpPr>
          <p:nvPr/>
        </p:nvSpPr>
        <p:spPr>
          <a:xfrm>
            <a:off x="1176867" y="459346"/>
            <a:ext cx="6798734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and IPR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36A6A-73F0-91ED-8F42-A3EA39B44B01}"/>
              </a:ext>
            </a:extLst>
          </p:cNvPr>
          <p:cNvSpPr txBox="1">
            <a:spLocks/>
          </p:cNvSpPr>
          <p:nvPr/>
        </p:nvSpPr>
        <p:spPr>
          <a:xfrm>
            <a:off x="1082351" y="1478180"/>
            <a:ext cx="6893250" cy="2585301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en-I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paper titled </a:t>
            </a:r>
            <a:r>
              <a:rPr lang="en-I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Sign Language Recognition and Bidirectional Communication System (SIGNLINK)” </a:t>
            </a:r>
            <a:r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National Conference On Emerging Computing &amp; Smart Technologies 2026 at VJCET, Vazhakulam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67" y="2872380"/>
            <a:ext cx="3592968" cy="27456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235" y="2872380"/>
            <a:ext cx="3569198" cy="274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2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4604" y="2686051"/>
            <a:ext cx="4054793" cy="93342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6000" spc="46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6000" spc="533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40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58403" y="3619104"/>
            <a:ext cx="4227195" cy="0"/>
          </a:xfrm>
          <a:custGeom>
            <a:avLst/>
            <a:gdLst/>
            <a:ahLst/>
            <a:cxnLst/>
            <a:rect l="l" t="t" r="r" b="b"/>
            <a:pathLst>
              <a:path w="5636259">
                <a:moveTo>
                  <a:pt x="0" y="0"/>
                </a:moveTo>
                <a:lnTo>
                  <a:pt x="5636133" y="0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1415</TotalTime>
  <Words>1019</Words>
  <Application>Microsoft Office PowerPoint</Application>
  <PresentationFormat>On-screen Show (4:3)</PresentationFormat>
  <Paragraphs>171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Garamond</vt:lpstr>
      <vt:lpstr>Times New Roman</vt:lpstr>
      <vt:lpstr>Organic</vt:lpstr>
      <vt:lpstr>Project Phase II – Final Review </vt:lpstr>
      <vt:lpstr>Problem Statement</vt:lpstr>
      <vt:lpstr>Problem Statement</vt:lpstr>
      <vt:lpstr>Problem Statement</vt:lpstr>
      <vt:lpstr>Relevance</vt:lpstr>
      <vt:lpstr>Relevance</vt:lpstr>
      <vt:lpstr>Literature Review</vt:lpstr>
      <vt:lpstr>Proposed Solution</vt:lpstr>
      <vt:lpstr>Proposed Solution</vt:lpstr>
      <vt:lpstr>Novelty &amp; Scope</vt:lpstr>
      <vt:lpstr>Novelty &amp; Scope</vt:lpstr>
      <vt:lpstr>Novelty &amp; Scope</vt:lpstr>
      <vt:lpstr>Challenges &amp; Risks</vt:lpstr>
      <vt:lpstr>PowerPoint Presentation</vt:lpstr>
      <vt:lpstr>Result</vt:lpstr>
      <vt:lpstr>PowerPoint Presentation</vt:lpstr>
      <vt:lpstr>PowerPoint Presentation</vt:lpstr>
      <vt:lpstr>PowerPoint Presentation</vt:lpstr>
      <vt:lpstr>PowerPoint Presentation</vt:lpstr>
      <vt:lpstr>Conclusion &amp; Future Work</vt:lpstr>
      <vt:lpstr>Conclusion &amp; Future Work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subject/>
  <dc:creator>ELDHOSE_GEORGE</dc:creator>
  <cp:keywords/>
  <dc:description>generated using python-pptx</dc:description>
  <cp:lastModifiedBy>Xplo</cp:lastModifiedBy>
  <cp:revision>38</cp:revision>
  <dcterms:created xsi:type="dcterms:W3CDTF">2013-01-27T09:14:16Z</dcterms:created>
  <dcterms:modified xsi:type="dcterms:W3CDTF">2026-05-10T17:23:13Z</dcterms:modified>
  <cp:category/>
</cp:coreProperties>
</file>